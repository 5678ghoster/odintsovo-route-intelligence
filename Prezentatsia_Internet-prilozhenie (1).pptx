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9F7249-177E-4194-9674-08B7B8468186}" v="34" dt="2026-04-25T18:50:23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660"/>
  </p:normalViewPr>
  <p:slideViewPr>
    <p:cSldViewPr snapToGrid="0">
      <p:cViewPr varScale="1">
        <p:scale>
          <a:sx n="86" d="100"/>
          <a:sy n="86" d="100"/>
        </p:scale>
        <p:origin x="43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Резник Игорь" userId="0b1535ad41e368a8" providerId="LiveId" clId="{0A6426DC-5E7C-4B05-9876-444CB31F3F5D}"/>
    <pc:docChg chg="undo custSel addSld delSld modSld">
      <pc:chgData name="Резник Игорь" userId="0b1535ad41e368a8" providerId="LiveId" clId="{0A6426DC-5E7C-4B05-9876-444CB31F3F5D}" dt="2026-04-25T18:51:09.589" v="289" actId="1076"/>
      <pc:docMkLst>
        <pc:docMk/>
      </pc:docMkLst>
      <pc:sldChg chg="modSp mod">
        <pc:chgData name="Резник Игорь" userId="0b1535ad41e368a8" providerId="LiveId" clId="{0A6426DC-5E7C-4B05-9876-444CB31F3F5D}" dt="2026-04-25T17:11:37.724" v="44" actId="2711"/>
        <pc:sldMkLst>
          <pc:docMk/>
          <pc:sldMk cId="1486523495" sldId="257"/>
        </pc:sldMkLst>
        <pc:spChg chg="mod">
          <ac:chgData name="Резник Игорь" userId="0b1535ad41e368a8" providerId="LiveId" clId="{0A6426DC-5E7C-4B05-9876-444CB31F3F5D}" dt="2026-04-25T17:11:37.724" v="44" actId="2711"/>
          <ac:spMkLst>
            <pc:docMk/>
            <pc:sldMk cId="1486523495" sldId="257"/>
            <ac:spMk id="11" creationId="{9F660B5D-F932-F2F5-9E21-DD9259000950}"/>
          </ac:spMkLst>
        </pc:spChg>
      </pc:sldChg>
      <pc:sldChg chg="addSp delSp modSp mod">
        <pc:chgData name="Резник Игорь" userId="0b1535ad41e368a8" providerId="LiveId" clId="{0A6426DC-5E7C-4B05-9876-444CB31F3F5D}" dt="2026-04-25T17:19:17.621" v="47" actId="14734"/>
        <pc:sldMkLst>
          <pc:docMk/>
          <pc:sldMk cId="3909768866" sldId="258"/>
        </pc:sldMkLst>
        <pc:graphicFrameChg chg="add mod modGraphic">
          <ac:chgData name="Резник Игорь" userId="0b1535ad41e368a8" providerId="LiveId" clId="{0A6426DC-5E7C-4B05-9876-444CB31F3F5D}" dt="2026-04-25T17:19:17.621" v="47" actId="14734"/>
          <ac:graphicFrameMkLst>
            <pc:docMk/>
            <pc:sldMk cId="3909768866" sldId="258"/>
            <ac:graphicFrameMk id="3" creationId="{7C4144AD-E27B-3569-F9D9-C33A34701B09}"/>
          </ac:graphicFrameMkLst>
        </pc:graphicFrameChg>
        <pc:graphicFrameChg chg="del">
          <ac:chgData name="Резник Игорь" userId="0b1535ad41e368a8" providerId="LiveId" clId="{0A6426DC-5E7C-4B05-9876-444CB31F3F5D}" dt="2026-04-25T16:47:08.333" v="12" actId="478"/>
          <ac:graphicFrameMkLst>
            <pc:docMk/>
            <pc:sldMk cId="3909768866" sldId="258"/>
            <ac:graphicFrameMk id="5" creationId="{C421E8AC-84C3-4424-356A-313C058AB735}"/>
          </ac:graphicFrameMkLst>
        </pc:graphicFrameChg>
      </pc:sldChg>
      <pc:sldChg chg="addSp modSp del mod">
        <pc:chgData name="Резник Игорь" userId="0b1535ad41e368a8" providerId="LiveId" clId="{0A6426DC-5E7C-4B05-9876-444CB31F3F5D}" dt="2026-04-25T18:36:26.496" v="182" actId="2696"/>
        <pc:sldMkLst>
          <pc:docMk/>
          <pc:sldMk cId="3772231749" sldId="259"/>
        </pc:sldMkLst>
        <pc:spChg chg="mod">
          <ac:chgData name="Резник Игорь" userId="0b1535ad41e368a8" providerId="LiveId" clId="{0A6426DC-5E7C-4B05-9876-444CB31F3F5D}" dt="2026-04-25T18:20:18.806" v="63" actId="20577"/>
          <ac:spMkLst>
            <pc:docMk/>
            <pc:sldMk cId="3772231749" sldId="259"/>
            <ac:spMk id="3" creationId="{776A8883-66A5-7E70-3EF2-38F594C07559}"/>
          </ac:spMkLst>
        </pc:spChg>
        <pc:graphicFrameChg chg="add mod">
          <ac:chgData name="Резник Игорь" userId="0b1535ad41e368a8" providerId="LiveId" clId="{0A6426DC-5E7C-4B05-9876-444CB31F3F5D}" dt="2026-04-25T18:20:47.929" v="67" actId="1076"/>
          <ac:graphicFrameMkLst>
            <pc:docMk/>
            <pc:sldMk cId="3772231749" sldId="259"/>
            <ac:graphicFrameMk id="5" creationId="{0D53176F-410B-C787-86C9-87C8FD30BE7B}"/>
          </ac:graphicFrameMkLst>
        </pc:graphicFrameChg>
      </pc:sldChg>
      <pc:sldChg chg="addSp delSp modSp mod">
        <pc:chgData name="Резник Игорь" userId="0b1535ad41e368a8" providerId="LiveId" clId="{0A6426DC-5E7C-4B05-9876-444CB31F3F5D}" dt="2026-04-25T17:11:05.536" v="42" actId="1076"/>
        <pc:sldMkLst>
          <pc:docMk/>
          <pc:sldMk cId="3045966182" sldId="260"/>
        </pc:sldMkLst>
        <pc:spChg chg="mod">
          <ac:chgData name="Резник Игорь" userId="0b1535ad41e368a8" providerId="LiveId" clId="{0A6426DC-5E7C-4B05-9876-444CB31F3F5D}" dt="2026-04-25T16:56:06.754" v="21"/>
          <ac:spMkLst>
            <pc:docMk/>
            <pc:sldMk cId="3045966182" sldId="260"/>
            <ac:spMk id="2" creationId="{56961D3C-6CDD-D432-59F5-C1483AE8B837}"/>
          </ac:spMkLst>
        </pc:spChg>
        <pc:spChg chg="del">
          <ac:chgData name="Резник Игорь" userId="0b1535ad41e368a8" providerId="LiveId" clId="{0A6426DC-5E7C-4B05-9876-444CB31F3F5D}" dt="2026-04-25T17:10:15.071" v="30" actId="22"/>
          <ac:spMkLst>
            <pc:docMk/>
            <pc:sldMk cId="3045966182" sldId="260"/>
            <ac:spMk id="3" creationId="{0D2DBD6F-E4F7-B190-65D1-EDE60479239D}"/>
          </ac:spMkLst>
        </pc:spChg>
        <pc:picChg chg="add mod ord">
          <ac:chgData name="Резник Игорь" userId="0b1535ad41e368a8" providerId="LiveId" clId="{0A6426DC-5E7C-4B05-9876-444CB31F3F5D}" dt="2026-04-25T17:11:05.536" v="42" actId="1076"/>
          <ac:picMkLst>
            <pc:docMk/>
            <pc:sldMk cId="3045966182" sldId="260"/>
            <ac:picMk id="6" creationId="{18746FDC-3332-8EE4-21F1-48F860D1426B}"/>
          </ac:picMkLst>
        </pc:picChg>
      </pc:sldChg>
      <pc:sldChg chg="modSp">
        <pc:chgData name="Резник Игорь" userId="0b1535ad41e368a8" providerId="LiveId" clId="{0A6426DC-5E7C-4B05-9876-444CB31F3F5D}" dt="2026-04-25T17:09:19.933" v="29"/>
        <pc:sldMkLst>
          <pc:docMk/>
          <pc:sldMk cId="3807640908" sldId="261"/>
        </pc:sldMkLst>
        <pc:spChg chg="mod">
          <ac:chgData name="Резник Игорь" userId="0b1535ad41e368a8" providerId="LiveId" clId="{0A6426DC-5E7C-4B05-9876-444CB31F3F5D}" dt="2026-04-25T17:09:19.933" v="29"/>
          <ac:spMkLst>
            <pc:docMk/>
            <pc:sldMk cId="3807640908" sldId="261"/>
            <ac:spMk id="2" creationId="{848A38F1-D160-8317-2912-63096F9CD064}"/>
          </ac:spMkLst>
        </pc:spChg>
      </pc:sldChg>
      <pc:sldChg chg="addSp delSp modSp mod">
        <pc:chgData name="Резник Игорь" userId="0b1535ad41e368a8" providerId="LiveId" clId="{0A6426DC-5E7C-4B05-9876-444CB31F3F5D}" dt="2026-04-25T18:51:09.589" v="289" actId="1076"/>
        <pc:sldMkLst>
          <pc:docMk/>
          <pc:sldMk cId="3931528438" sldId="262"/>
        </pc:sldMkLst>
        <pc:spChg chg="mod">
          <ac:chgData name="Резник Игорь" userId="0b1535ad41e368a8" providerId="LiveId" clId="{0A6426DC-5E7C-4B05-9876-444CB31F3F5D}" dt="2026-04-25T18:46:11.308" v="192" actId="1076"/>
          <ac:spMkLst>
            <pc:docMk/>
            <pc:sldMk cId="3931528438" sldId="262"/>
            <ac:spMk id="2" creationId="{9F3FF046-A06E-CD13-8D40-A8C0FFF78FB7}"/>
          </ac:spMkLst>
        </pc:spChg>
        <pc:spChg chg="del">
          <ac:chgData name="Резник Игорь" userId="0b1535ad41e368a8" providerId="LiveId" clId="{0A6426DC-5E7C-4B05-9876-444CB31F3F5D}" dt="2026-04-25T17:01:42" v="23" actId="3680"/>
          <ac:spMkLst>
            <pc:docMk/>
            <pc:sldMk cId="3931528438" sldId="262"/>
            <ac:spMk id="3" creationId="{530F4D4B-3E09-BAA8-98A2-769232EF8633}"/>
          </ac:spMkLst>
        </pc:spChg>
        <pc:graphicFrameChg chg="add mod ord modGraphic">
          <ac:chgData name="Резник Игорь" userId="0b1535ad41e368a8" providerId="LiveId" clId="{0A6426DC-5E7C-4B05-9876-444CB31F3F5D}" dt="2026-04-25T18:51:09.589" v="289" actId="1076"/>
          <ac:graphicFrameMkLst>
            <pc:docMk/>
            <pc:sldMk cId="3931528438" sldId="262"/>
            <ac:graphicFrameMk id="5" creationId="{CD0EE365-DAF1-BAEF-BAE8-876175C5A762}"/>
          </ac:graphicFrameMkLst>
        </pc:graphicFrameChg>
      </pc:sldChg>
      <pc:sldChg chg="addSp delSp modSp new del mod">
        <pc:chgData name="Резник Игорь" userId="0b1535ad41e368a8" providerId="LiveId" clId="{0A6426DC-5E7C-4B05-9876-444CB31F3F5D}" dt="2026-04-25T16:48:57.308" v="18" actId="2696"/>
        <pc:sldMkLst>
          <pc:docMk/>
          <pc:sldMk cId="1019222345" sldId="263"/>
        </pc:sldMkLst>
        <pc:spChg chg="del">
          <ac:chgData name="Резник Игорь" userId="0b1535ad41e368a8" providerId="LiveId" clId="{0A6426DC-5E7C-4B05-9876-444CB31F3F5D}" dt="2026-04-25T16:46:09.339" v="6" actId="3680"/>
          <ac:spMkLst>
            <pc:docMk/>
            <pc:sldMk cId="1019222345" sldId="263"/>
            <ac:spMk id="3" creationId="{ACF12E6A-AE83-83C4-5EC6-2F2E973DA050}"/>
          </ac:spMkLst>
        </pc:spChg>
        <pc:graphicFrameChg chg="add mod ord modGraphic">
          <ac:chgData name="Резник Игорь" userId="0b1535ad41e368a8" providerId="LiveId" clId="{0A6426DC-5E7C-4B05-9876-444CB31F3F5D}" dt="2026-04-25T16:47:01.838" v="11" actId="6549"/>
          <ac:graphicFrameMkLst>
            <pc:docMk/>
            <pc:sldMk cId="1019222345" sldId="263"/>
            <ac:graphicFrameMk id="5" creationId="{81B35D40-116D-54C0-6775-A473A55E2E52}"/>
          </ac:graphicFrameMkLst>
        </pc:graphicFrameChg>
      </pc:sldChg>
      <pc:sldChg chg="addSp delSp modSp new mod">
        <pc:chgData name="Резник Игорь" userId="0b1535ad41e368a8" providerId="LiveId" clId="{0A6426DC-5E7C-4B05-9876-444CB31F3F5D}" dt="2026-04-25T18:37:46.082" v="188" actId="1076"/>
        <pc:sldMkLst>
          <pc:docMk/>
          <pc:sldMk cId="2419641067" sldId="263"/>
        </pc:sldMkLst>
        <pc:spChg chg="mod">
          <ac:chgData name="Резник Игорь" userId="0b1535ad41e368a8" providerId="LiveId" clId="{0A6426DC-5E7C-4B05-9876-444CB31F3F5D}" dt="2026-04-25T18:27:36.352" v="138" actId="1076"/>
          <ac:spMkLst>
            <pc:docMk/>
            <pc:sldMk cId="2419641067" sldId="263"/>
            <ac:spMk id="2" creationId="{E379883C-9181-604F-7417-74BA8709BF43}"/>
          </ac:spMkLst>
        </pc:spChg>
        <pc:spChg chg="del">
          <ac:chgData name="Резник Игорь" userId="0b1535ad41e368a8" providerId="LiveId" clId="{0A6426DC-5E7C-4B05-9876-444CB31F3F5D}" dt="2026-04-25T18:22:34.848" v="69" actId="3680"/>
          <ac:spMkLst>
            <pc:docMk/>
            <pc:sldMk cId="2419641067" sldId="263"/>
            <ac:spMk id="3" creationId="{3221AB5B-3EE1-A637-0D69-CBFAB371663F}"/>
          </ac:spMkLst>
        </pc:spChg>
        <pc:graphicFrameChg chg="add mod ord modGraphic">
          <ac:chgData name="Резник Игорь" userId="0b1535ad41e368a8" providerId="LiveId" clId="{0A6426DC-5E7C-4B05-9876-444CB31F3F5D}" dt="2026-04-25T18:37:42.351" v="187" actId="14100"/>
          <ac:graphicFrameMkLst>
            <pc:docMk/>
            <pc:sldMk cId="2419641067" sldId="263"/>
            <ac:graphicFrameMk id="5" creationId="{BF2BB914-A894-AAE4-BF1B-2D895EE19E46}"/>
          </ac:graphicFrameMkLst>
        </pc:graphicFrameChg>
        <pc:graphicFrameChg chg="add mod modGraphic">
          <ac:chgData name="Резник Игорь" userId="0b1535ad41e368a8" providerId="LiveId" clId="{0A6426DC-5E7C-4B05-9876-444CB31F3F5D}" dt="2026-04-25T18:37:46.082" v="188" actId="1076"/>
          <ac:graphicFrameMkLst>
            <pc:docMk/>
            <pc:sldMk cId="2419641067" sldId="263"/>
            <ac:graphicFrameMk id="6" creationId="{E60A9442-DE88-9565-4369-05FAEDFDEF2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8535D-5D8D-4D94-8B36-0CF0A27E80F0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E208-63C5-4A46-A653-5AF50DA329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12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0CD6C-E0BC-4F07-8745-1DC7A2A3971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750A4-5E90-4E98-A181-53BB2355160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F9366-0B99-434B-85B7-62365426A29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E4D2D-33E9-4F90-9B63-19599B577731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96BC-8A31-49DB-A139-4B33983395F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E3A60-7625-440D-A9B1-29DF82CB1EF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73658-EC2F-4AC8-AEDE-83AF77F3176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7750-530A-40D4-9A00-9D2A4EAE90DD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CCF03-97A4-4E80-B46D-5AE661AA8620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68C5-5829-4D04-ACEE-1F31C96CB102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C1D7-9800-4734-BEAB-2EF9C77222B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B590-DABF-4330-BEA2-9603CCC658C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FEF5F-D9FF-418E-8FAF-F665EB030694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52BC-BCCC-43C8-8990-CCD603ECD296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069DC-671E-42C2-A5BD-D33DFBE6B08C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2EB81-FBBB-4F03-BB5D-05C8E4A2298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3AD4F-B808-48EA-B0A9-9988D5BCC0A7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01A5A-97E8-9DD7-1560-9B54D4FBD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8488" y="2549829"/>
            <a:ext cx="8746762" cy="2262781"/>
          </a:xfrm>
        </p:spPr>
        <p:txBody>
          <a:bodyPr>
            <a:no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интеллектуальной платформы для управления городской мобильностью на основе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мультиагентного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FD1856-DC8E-0D46-7799-8125757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4701" y="5018334"/>
            <a:ext cx="3454320" cy="1730127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 </a:t>
            </a:r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гр. 2бАСУ2 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altLang="ru-RU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Odintsovo</a:t>
            </a:r>
            <a:r>
              <a:rPr lang="en-US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Mobility</a:t>
            </a: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Резник И.О.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Спиричев В.Д.  </a:t>
            </a:r>
          </a:p>
          <a:p>
            <a:pPr algn="ctr"/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Цапкова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Е.А.  </a:t>
            </a:r>
          </a:p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Четыркина С.С.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3E9A86-730C-4825-08FA-493D6C050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67" y="4882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49" name="Рисунок 3">
            <a:extLst>
              <a:ext uri="{FF2B5EF4-FFF2-40B4-BE49-F238E27FC236}">
                <a16:creationId xmlns:a16="http://schemas.microsoft.com/office/drawing/2014/main" id="{DF4E161A-5F06-6554-E00A-FBD70D2C0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01" y="288416"/>
            <a:ext cx="1603057" cy="137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AF01EDE-A2B7-B262-9984-99046CB7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855" y="401823"/>
            <a:ext cx="846337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«МОСКОВСКИЙ АВТОМОБИЛЬНО-ДОРОЖНЫЙ 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ГОСУДАРСТВЕННЫЙ ТЕХНИЧЕСКИЙ УНИВЕРСИТЕТ (МАДИ)»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AE7D5-6FAF-6DF5-F627-13F654239591}"/>
              </a:ext>
            </a:extLst>
          </p:cNvPr>
          <p:cNvSpPr txBox="1"/>
          <p:nvPr/>
        </p:nvSpPr>
        <p:spPr>
          <a:xfrm>
            <a:off x="3950208" y="1829769"/>
            <a:ext cx="5387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Кафедра: Автоматизированные системы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436323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392BE0-5CFD-9D48-10DB-C5DDF3D8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D06C0ED7-ADE5-956A-4609-0433EE177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10479" y="720408"/>
            <a:ext cx="5830485" cy="327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8">
            <a:extLst>
              <a:ext uri="{FF2B5EF4-FFF2-40B4-BE49-F238E27FC236}">
                <a16:creationId xmlns:a16="http://schemas.microsoft.com/office/drawing/2014/main" id="{EE64DCB5-B083-2BEE-07A8-F7CF89AD54F6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1046403" y="1562419"/>
            <a:ext cx="5229252" cy="12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dirty="0"/>
              <a:t>Актуальность и обоснование темы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60B5D-F932-F2F5-9E21-DD9259000950}"/>
              </a:ext>
            </a:extLst>
          </p:cNvPr>
          <p:cNvSpPr txBox="1"/>
          <p:nvPr/>
        </p:nvSpPr>
        <p:spPr>
          <a:xfrm>
            <a:off x="1497313" y="4249992"/>
            <a:ext cx="99237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Актуальность 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проекта связана с ростом транспортной нагрузки в городах и необходимостью перехода от обычной навигации к интеллектуальному управлению мобильностью. Gartner относит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Multiagent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Systems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,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Physical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AI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, 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AI-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Native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Development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Platforms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Domain-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Specific</a:t>
            </a:r>
            <a:r>
              <a:rPr lang="ru-RU" b="1" dirty="0">
                <a:latin typeface="Century Gothic (Основной текст)"/>
                <a:cs typeface="Times New Roman" panose="02020603050405020304" pitchFamily="18" charset="0"/>
              </a:rPr>
              <a:t> Language </a:t>
            </a:r>
            <a:r>
              <a:rPr lang="ru-RU" b="1" dirty="0" err="1">
                <a:latin typeface="Century Gothic (Основной текст)"/>
                <a:cs typeface="Times New Roman" panose="02020603050405020304" pitchFamily="18" charset="0"/>
              </a:rPr>
              <a:t>Models</a:t>
            </a:r>
            <a:r>
              <a:rPr lang="ru-RU" dirty="0">
                <a:latin typeface="Century Gothic (Основной текст)"/>
                <a:cs typeface="Times New Roman" panose="02020603050405020304" pitchFamily="18" charset="0"/>
              </a:rPr>
              <a:t> к стратегическим технологическим трендам 2026 года. Это подтверждает перспективность решений, где несколько интеллектуальных модулей анализируют городскую среду, строят альтернативные маршруты и помогают принимать решения в реальном времени.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15764364-DC41-10E5-519A-E8B1E2A8E851}"/>
              </a:ext>
            </a:extLst>
          </p:cNvPr>
          <p:cNvSpPr/>
          <p:nvPr/>
        </p:nvSpPr>
        <p:spPr>
          <a:xfrm>
            <a:off x="5928183" y="970344"/>
            <a:ext cx="3773423" cy="2833877"/>
          </a:xfrm>
          <a:prstGeom prst="ellipse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2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BF52A-3F07-6ECC-4903-1DCDEEBC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6181" y="559198"/>
            <a:ext cx="7075996" cy="82229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2B8911-CC48-7839-AC11-58185D7E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C4144AD-E27B-3569-F9D9-C33A34701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597645"/>
              </p:ext>
            </p:extLst>
          </p:nvPr>
        </p:nvGraphicFramePr>
        <p:xfrm>
          <a:off x="2805344" y="1902372"/>
          <a:ext cx="7345615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797">
                  <a:extLst>
                    <a:ext uri="{9D8B030D-6E8A-4147-A177-3AD203B41FA5}">
                      <a16:colId xmlns:a16="http://schemas.microsoft.com/office/drawing/2014/main" val="2522752273"/>
                    </a:ext>
                  </a:extLst>
                </a:gridCol>
                <a:gridCol w="2475409">
                  <a:extLst>
                    <a:ext uri="{9D8B030D-6E8A-4147-A177-3AD203B41FA5}">
                      <a16:colId xmlns:a16="http://schemas.microsoft.com/office/drawing/2014/main" val="1250670543"/>
                    </a:ext>
                  </a:extLst>
                </a:gridCol>
                <a:gridCol w="2475409">
                  <a:extLst>
                    <a:ext uri="{9D8B030D-6E8A-4147-A177-3AD203B41FA5}">
                      <a16:colId xmlns:a16="http://schemas.microsoft.com/office/drawing/2014/main" val="3294092736"/>
                    </a:ext>
                  </a:extLst>
                </a:gridCol>
              </a:tblGrid>
              <a:tr h="2863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Django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504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 err="1"/>
                        <a:t>Микрофреймворк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Full-stack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949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Гибкость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Средняя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573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Скорость </a:t>
                      </a:r>
                      <a:r>
                        <a:rPr lang="en-US"/>
                        <a:t>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Средняя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240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Подходит для учебного проекта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Да, но сложнее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05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Интеграция с </a:t>
                      </a:r>
                      <a:r>
                        <a:rPr lang="en-US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Удобная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Через дополнительные настройки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916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Причина выбора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Простота, контроль архитектуры, быстрый запуск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Избыточен для </a:t>
                      </a:r>
                      <a:r>
                        <a:rPr lang="en-US" dirty="0"/>
                        <a:t>MVP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251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76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9883C-9181-604F-7417-74BA8709B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147337"/>
            <a:ext cx="8911687" cy="1280890"/>
          </a:xfrm>
        </p:spPr>
        <p:txBody>
          <a:bodyPr/>
          <a:lstStyle/>
          <a:p>
            <a:r>
              <a:rPr lang="ru-RU" dirty="0"/>
              <a:t>Чек-лист реализации проекта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F2BB914-A894-AAE4-BF1B-2D895EE19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029217"/>
              </p:ext>
            </p:extLst>
          </p:nvPr>
        </p:nvGraphicFramePr>
        <p:xfrm>
          <a:off x="4544008" y="925699"/>
          <a:ext cx="7647993" cy="5232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331">
                  <a:extLst>
                    <a:ext uri="{9D8B030D-6E8A-4147-A177-3AD203B41FA5}">
                      <a16:colId xmlns:a16="http://schemas.microsoft.com/office/drawing/2014/main" val="3449053076"/>
                    </a:ext>
                  </a:extLst>
                </a:gridCol>
                <a:gridCol w="2549331">
                  <a:extLst>
                    <a:ext uri="{9D8B030D-6E8A-4147-A177-3AD203B41FA5}">
                      <a16:colId xmlns:a16="http://schemas.microsoft.com/office/drawing/2014/main" val="1519818222"/>
                    </a:ext>
                  </a:extLst>
                </a:gridCol>
                <a:gridCol w="2549331">
                  <a:extLst>
                    <a:ext uri="{9D8B030D-6E8A-4147-A177-3AD203B41FA5}">
                      <a16:colId xmlns:a16="http://schemas.microsoft.com/office/drawing/2014/main" val="2940068409"/>
                    </a:ext>
                  </a:extLst>
                </a:gridCol>
              </a:tblGrid>
              <a:tr h="22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Этап работы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Что было выполнено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Ответственные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620973"/>
                  </a:ext>
                </a:extLst>
              </a:tr>
              <a:tr h="52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Формирование идеи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Определена концепция </a:t>
                      </a:r>
                      <a:r>
                        <a:rPr lang="ru-RU" sz="1200" dirty="0" err="1"/>
                        <a:t>MaaS</a:t>
                      </a:r>
                      <a:r>
                        <a:rPr lang="ru-RU" sz="1200" dirty="0"/>
                        <a:t>-платформы, выбрана зона Одинцово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Вся команда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339656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Проектирование структуры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Спроектированы </a:t>
                      </a:r>
                      <a:r>
                        <a:rPr lang="ru-RU" sz="1200" dirty="0" err="1"/>
                        <a:t>frontend</a:t>
                      </a:r>
                      <a:r>
                        <a:rPr lang="ru-RU" sz="1200" dirty="0"/>
                        <a:t>/</a:t>
                      </a:r>
                      <a:r>
                        <a:rPr lang="ru-RU" sz="1200" dirty="0" err="1"/>
                        <a:t>backend</a:t>
                      </a:r>
                      <a:r>
                        <a:rPr lang="ru-RU" sz="1200" dirty="0"/>
                        <a:t> и ключевые функции 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Резник И.О.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423605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Разработка </a:t>
                      </a:r>
                      <a:r>
                        <a:rPr lang="en-US" sz="1200" b="1" dirty="0"/>
                        <a:t>MVP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Собран базовый макет и структура веб-приложения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230483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Карта и маршруты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Добавлены рабочая зона, авто- и пешеходный режимы, пробки, время прибытия и альтернативные маршруты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И.О., Спиричев В.Д.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218038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AI-</a:t>
                      </a:r>
                      <a:r>
                        <a:rPr lang="ru-RU" sz="1200" b="1"/>
                        <a:t>интеграция и </a:t>
                      </a:r>
                      <a:r>
                        <a:rPr lang="en-US" sz="1200" b="1"/>
                        <a:t>n8n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Настроено дерево n8n и логика AI-ассистента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Резник И.О., Спиричев В.Д., Цапкова Е.А.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142739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Дизайн интерфейса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Проработаны визуальный стиль, иконки и удобство интерфейса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Четыркина С.С.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318120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Тестирование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Проверены сценарии, маршруты, AI и интерфейс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Цапкова Е.А.</a:t>
                      </a:r>
                      <a:r>
                        <a:rPr lang="en-US" sz="1200" dirty="0"/>
                        <a:t>, </a:t>
                      </a:r>
                      <a:r>
                        <a:rPr lang="ru-RU" sz="1200" dirty="0"/>
                        <a:t>Четыркина С.С.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239006"/>
                  </a:ext>
                </a:extLst>
              </a:tr>
              <a:tr h="524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Развёртывание и доработка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Подготовлено размещение на сервере и выполнены финальные улучшения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Вся команда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2900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A43F3B-6E99-7588-F0F5-84AACC91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60A9442-DE88-9565-4369-05FAEDFDE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448075"/>
              </p:ext>
            </p:extLst>
          </p:nvPr>
        </p:nvGraphicFramePr>
        <p:xfrm>
          <a:off x="309749" y="2068672"/>
          <a:ext cx="4077478" cy="373496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8739">
                  <a:extLst>
                    <a:ext uri="{9D8B030D-6E8A-4147-A177-3AD203B41FA5}">
                      <a16:colId xmlns:a16="http://schemas.microsoft.com/office/drawing/2014/main" val="3959459534"/>
                    </a:ext>
                  </a:extLst>
                </a:gridCol>
                <a:gridCol w="2038739">
                  <a:extLst>
                    <a:ext uri="{9D8B030D-6E8A-4147-A177-3AD203B41FA5}">
                      <a16:colId xmlns:a16="http://schemas.microsoft.com/office/drawing/2014/main" val="785665000"/>
                    </a:ext>
                  </a:extLst>
                </a:gridCol>
              </a:tblGrid>
              <a:tr h="361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Участник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Роль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615917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Резник И.О.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Руководитель проекта, разработчик MVP и AI-интеграции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119573"/>
                  </a:ext>
                </a:extLst>
              </a:tr>
              <a:tr h="843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Спиричев В.Д.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Инженер по развертыванию и n8n-интеграции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370565"/>
                  </a:ext>
                </a:extLst>
              </a:tr>
              <a:tr h="10843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Цапкова Е.А.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AI-тестировщик и специалист по обучающим сценариям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750298"/>
                  </a:ext>
                </a:extLst>
              </a:tr>
              <a:tr h="602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Четыркина С.С.</a:t>
                      </a:r>
                      <a:endParaRPr lang="ru-RU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UI/UX-</a:t>
                      </a:r>
                      <a:r>
                        <a:rPr lang="ru-RU" sz="1200" dirty="0"/>
                        <a:t>дизайнер интерфейса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278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64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61D3C-6CDD-D432-59F5-C1483AE8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8746FDC-3332-8EE4-21F1-48F860D14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851" y="1264555"/>
            <a:ext cx="9796297" cy="532951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593920-6A78-F404-46BF-A796336F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66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A38F1-D160-8317-2912-63096F9C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Qr</a:t>
            </a:r>
            <a:r>
              <a:rPr lang="en-US" dirty="0"/>
              <a:t> </a:t>
            </a:r>
            <a:r>
              <a:rPr lang="ru-RU" dirty="0"/>
              <a:t>Коды и 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84011-867D-8A2C-1C5B-A5DA5F7E6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Github</a:t>
            </a:r>
            <a:r>
              <a:rPr lang="en-US" dirty="0"/>
              <a:t>: https://github.com/5678Ghoster/Odintsovo-Route-Intelligence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64759F-4D88-DC8B-A446-016127D0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4B0183-8F21-3526-24E8-151135AA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24" y="1979721"/>
            <a:ext cx="787782" cy="787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538BAF-9DEB-7AFD-B600-29B93134F0A2}"/>
              </a:ext>
            </a:extLst>
          </p:cNvPr>
          <p:cNvSpPr txBox="1"/>
          <p:nvPr/>
        </p:nvSpPr>
        <p:spPr>
          <a:xfrm>
            <a:off x="2589212" y="3161939"/>
            <a:ext cx="8594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GitVerse</a:t>
            </a:r>
            <a:r>
              <a:rPr lang="en-US" dirty="0"/>
              <a:t>: </a:t>
            </a:r>
            <a:r>
              <a:rPr lang="ru-RU" dirty="0"/>
              <a:t>https://gitverse.ru/Ganomechately/Odintsovo-Route-Intelligence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76F942-B5F8-D97A-07E7-A4EEE5119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56" y="2917980"/>
            <a:ext cx="857250" cy="8572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6D59F22-D7A6-B59E-3A28-FE4652003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175" y="4172177"/>
            <a:ext cx="2292105" cy="229210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EE4224E-643D-DE61-F0C6-87803FAC6E93}"/>
              </a:ext>
            </a:extLst>
          </p:cNvPr>
          <p:cNvSpPr/>
          <p:nvPr/>
        </p:nvSpPr>
        <p:spPr>
          <a:xfrm>
            <a:off x="1493459" y="3726646"/>
            <a:ext cx="1001115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0" cap="none" spc="0" dirty="0" err="1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Odintsovo</a:t>
            </a:r>
            <a:r>
              <a:rPr lang="en-US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 </a:t>
            </a:r>
            <a:r>
              <a:rPr lang="en-US" sz="2400" b="0" cap="none" spc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Route Intelli</a:t>
            </a:r>
            <a:r>
              <a:rPr lang="en-US" sz="2400">
                <a:ln w="0"/>
                <a:solidFill>
                  <a:schemeClr val="accent2">
                    <a:lumMod val="75000"/>
                  </a:schemeClr>
                </a:solidFill>
              </a:rPr>
              <a:t>g</a:t>
            </a:r>
            <a:r>
              <a:rPr lang="en-US" sz="2400" b="0" cap="none" spc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ence </a:t>
            </a:r>
            <a:r>
              <a:rPr lang="en-US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(</a:t>
            </a:r>
            <a:r>
              <a:rPr lang="ru-RU" sz="2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/>
              </a:rPr>
              <a:t>локальная ссылка)</a:t>
            </a:r>
          </a:p>
        </p:txBody>
      </p:sp>
    </p:spTree>
    <p:extLst>
      <p:ext uri="{BB962C8B-B14F-4D97-AF65-F5344CB8AC3E}">
        <p14:creationId xmlns:p14="http://schemas.microsoft.com/office/powerpoint/2010/main" val="3807640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FF046-A06E-CD13-8D40-A8C0FFF7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98053"/>
            <a:ext cx="8911687" cy="1280890"/>
          </a:xfrm>
        </p:spPr>
        <p:txBody>
          <a:bodyPr/>
          <a:lstStyle/>
          <a:p>
            <a:r>
              <a:rPr lang="ru-RU" dirty="0"/>
              <a:t>Коммерциализация проекта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D0EE365-DAF1-BAEF-BAE8-876175C5A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569258"/>
              </p:ext>
            </p:extLst>
          </p:nvPr>
        </p:nvGraphicFramePr>
        <p:xfrm>
          <a:off x="1625600" y="1233371"/>
          <a:ext cx="9543073" cy="522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5313">
                  <a:extLst>
                    <a:ext uri="{9D8B030D-6E8A-4147-A177-3AD203B41FA5}">
                      <a16:colId xmlns:a16="http://schemas.microsoft.com/office/drawing/2014/main" val="2929077359"/>
                    </a:ext>
                  </a:extLst>
                </a:gridCol>
                <a:gridCol w="3185601">
                  <a:extLst>
                    <a:ext uri="{9D8B030D-6E8A-4147-A177-3AD203B41FA5}">
                      <a16:colId xmlns:a16="http://schemas.microsoft.com/office/drawing/2014/main" val="2668146323"/>
                    </a:ext>
                  </a:extLst>
                </a:gridCol>
                <a:gridCol w="3102159">
                  <a:extLst>
                    <a:ext uri="{9D8B030D-6E8A-4147-A177-3AD203B41FA5}">
                      <a16:colId xmlns:a16="http://schemas.microsoft.com/office/drawing/2014/main" val="287999496"/>
                    </a:ext>
                  </a:extLst>
                </a:gridCol>
              </a:tblGrid>
              <a:tr h="461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Этап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/>
                        <a:t>Содержание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Коммерческая ценность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258158"/>
                  </a:ext>
                </a:extLst>
              </a:tr>
              <a:tr h="81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Пилотный </a:t>
                      </a:r>
                      <a:r>
                        <a:rPr lang="en-US" sz="1400" dirty="0"/>
                        <a:t>MVP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Рабочая версия сервиса на примере Одинцово: маршруты, пробки, время прибытия, альтернативы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Проверка идеи, демонстрация продукта и сбор первых пользовательских сценариев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196877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PRO-</a:t>
                      </a:r>
                      <a:r>
                        <a:rPr lang="ru-RU" sz="1400" dirty="0"/>
                        <a:t>версия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Расширенная аналитика</a:t>
                      </a:r>
                      <a:r>
                        <a:rPr lang="en-US" sz="1400" dirty="0"/>
                        <a:t>, </a:t>
                      </a:r>
                      <a:r>
                        <a:rPr lang="ru-RU" sz="1400" dirty="0"/>
                        <a:t>ИИ-рекомендации</a:t>
                      </a:r>
                      <a:r>
                        <a:rPr lang="en-US" sz="1400" dirty="0"/>
                        <a:t>, </a:t>
                      </a:r>
                      <a:r>
                        <a:rPr lang="ru-RU" sz="1400" dirty="0"/>
                        <a:t>выбор лучшего маршрута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Платный доступ к интеллектуальным функциям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2462672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B2B-</a:t>
                      </a:r>
                      <a:r>
                        <a:rPr lang="ru-RU" sz="1400" dirty="0"/>
                        <a:t>платформа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Кабинеты для организаций, кампусов, служб доставки, такси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Корпоративные тарифы и регулярные платежи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204488"/>
                  </a:ext>
                </a:extLst>
              </a:tr>
              <a:tr h="856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API-</a:t>
                      </a:r>
                      <a:r>
                        <a:rPr lang="ru-RU" sz="1400" dirty="0"/>
                        <a:t>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Подключение маршрутизации и рекомендаций к сторонним сервисам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Продажа доступа к функциям платформы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223063"/>
                  </a:ext>
                </a:extLst>
              </a:tr>
              <a:tr h="659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Городская аналитика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Анализ маршрутов, перегруженных зон и транспортного спроса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Отчёты для администраций, девелоперов и партнёров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6025298"/>
                  </a:ext>
                </a:extLst>
              </a:tr>
              <a:tr h="448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Масштабирование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Подключение новых районов и городов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dirty="0"/>
                        <a:t>Рост аудитории и рынка применения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494491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7D096C-78A7-A34D-D0DF-0D34D2EA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52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8DFBA5-79B7-A4BE-1479-E3CEC1F0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929" y="512462"/>
            <a:ext cx="8911687" cy="1280890"/>
          </a:xfrm>
        </p:spPr>
        <p:txBody>
          <a:bodyPr/>
          <a:lstStyle/>
          <a:p>
            <a:r>
              <a:rPr lang="ru-RU" b="1" dirty="0"/>
              <a:t>Потенциальные партнёры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31D6F2-442E-6BC5-877E-A0EA4D5A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DA11FD0C-C251-5C42-F8E6-9BF5D891D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6861"/>
              </p:ext>
            </p:extLst>
          </p:nvPr>
        </p:nvGraphicFramePr>
        <p:xfrm>
          <a:off x="2100689" y="1580834"/>
          <a:ext cx="8125382" cy="2866879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4071568">
                  <a:extLst>
                    <a:ext uri="{9D8B030D-6E8A-4147-A177-3AD203B41FA5}">
                      <a16:colId xmlns:a16="http://schemas.microsoft.com/office/drawing/2014/main" val="321146806"/>
                    </a:ext>
                  </a:extLst>
                </a:gridCol>
                <a:gridCol w="4053814">
                  <a:extLst>
                    <a:ext uri="{9D8B030D-6E8A-4147-A177-3AD203B41FA5}">
                      <a16:colId xmlns:a16="http://schemas.microsoft.com/office/drawing/2014/main" val="771818203"/>
                    </a:ext>
                  </a:extLst>
                </a:gridCol>
              </a:tblGrid>
              <a:tr h="47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 dirty="0"/>
                        <a:t>Компания / организация</a:t>
                      </a:r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400" b="1" dirty="0"/>
                        <a:t>Возможное направление сотрудничества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3021716288"/>
                  </a:ext>
                </a:extLst>
              </a:tr>
              <a:tr h="47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Яндекс Карты</a:t>
                      </a:r>
                      <a:endParaRPr lang="ru-RU" sz="1200" dirty="0"/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Карты, маршруты, пробки и время прибытия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3100208984"/>
                  </a:ext>
                </a:extLst>
              </a:tr>
              <a:tr h="560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2ГИС / ООО «ДубльГИС»</a:t>
                      </a:r>
                      <a:endParaRPr lang="ru-RU" sz="1200" dirty="0"/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Геоданные, организации и городская инфраструктура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1296635757"/>
                  </a:ext>
                </a:extLst>
              </a:tr>
              <a:tr h="47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Яндекс </a:t>
                      </a:r>
                      <a:r>
                        <a:rPr lang="en-US" sz="1200" b="1" dirty="0"/>
                        <a:t>Go / </a:t>
                      </a:r>
                      <a:r>
                        <a:rPr lang="ru-RU" sz="1200" b="1"/>
                        <a:t>Яндекс Доставка</a:t>
                      </a:r>
                      <a:endParaRPr lang="ru-RU" sz="1200"/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/>
                        <a:t>Маршруты для такси, доставки и логистики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2415726262"/>
                  </a:ext>
                </a:extLst>
              </a:tr>
              <a:tr h="473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/>
                        <a:t>Яндекс Драйв</a:t>
                      </a:r>
                      <a:endParaRPr lang="ru-RU" sz="1200"/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Каршеринг в мультимодальных маршрутах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2426596876"/>
                  </a:ext>
                </a:extLst>
              </a:tr>
              <a:tr h="411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/>
                        <a:t>Самокат</a:t>
                      </a:r>
                      <a:endParaRPr lang="ru-RU" sz="1200" dirty="0"/>
                    </a:p>
                  </a:txBody>
                  <a:tcPr marL="59972" marR="59972" marT="29986" marB="299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/>
                        <a:t>Курьерские маршруты и прогноз спроса</a:t>
                      </a:r>
                    </a:p>
                  </a:txBody>
                  <a:tcPr marL="59972" marR="59972" marT="29986" marB="29986" anchor="ctr"/>
                </a:tc>
                <a:extLst>
                  <a:ext uri="{0D108BD9-81ED-4DB2-BD59-A6C34878D82A}">
                    <a16:rowId xmlns:a16="http://schemas.microsoft.com/office/drawing/2014/main" val="3919336546"/>
                  </a:ext>
                </a:extLst>
              </a:tr>
            </a:tbl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764F6B9-607C-67C7-B32C-898DFC23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32" y="4912227"/>
            <a:ext cx="963966" cy="96396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29D4125-D0F5-A73F-83D6-2EF9F5FA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102740" y="4923778"/>
            <a:ext cx="969144" cy="95241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8F06838-D940-0F9D-7895-2FA79ABFB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372" y="4921928"/>
            <a:ext cx="896645" cy="89664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928CB97-1571-E21F-97D4-F66D8F290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505" y="4881979"/>
            <a:ext cx="896645" cy="8966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2CC3103-49B9-DF3F-EBFF-1F3E3FDA2E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638" y="4912227"/>
            <a:ext cx="896644" cy="89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5631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280</TotalTime>
  <Words>583</Words>
  <Application>Microsoft Office PowerPoint</Application>
  <PresentationFormat>Широкоэкранный</PresentationFormat>
  <Paragraphs>120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Century Gothic (Основной текст)</vt:lpstr>
      <vt:lpstr>Times New Roman</vt:lpstr>
      <vt:lpstr>Wingdings 3</vt:lpstr>
      <vt:lpstr>Легкий дым</vt:lpstr>
      <vt:lpstr>Проектирование интеллектуальной платформы для управления городской мобильностью на основе мультиагентного подхода</vt:lpstr>
      <vt:lpstr>Актуальность и обоснование темы</vt:lpstr>
      <vt:lpstr>Сравнение Flask и Django</vt:lpstr>
      <vt:lpstr>Чек-лист реализации проекта</vt:lpstr>
      <vt:lpstr>Интерфейс</vt:lpstr>
      <vt:lpstr>Qr Коды и ссылки</vt:lpstr>
      <vt:lpstr>Коммерциализация проекта</vt:lpstr>
      <vt:lpstr>Потенциальные партнёры проекта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62016</dc:creator>
  <cp:lastModifiedBy>Резник Игорь</cp:lastModifiedBy>
  <cp:revision>17</cp:revision>
  <dcterms:created xsi:type="dcterms:W3CDTF">2026-03-05T10:18:29Z</dcterms:created>
  <dcterms:modified xsi:type="dcterms:W3CDTF">2026-05-11T10:11:46Z</dcterms:modified>
</cp:coreProperties>
</file>